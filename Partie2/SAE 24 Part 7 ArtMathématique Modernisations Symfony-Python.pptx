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Bold" charset="1" panose="000000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8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7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8521" y="5463041"/>
            <a:ext cx="7641673" cy="7641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35527" y="5143500"/>
            <a:ext cx="1253611" cy="12536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17627" y="1428510"/>
            <a:ext cx="920075" cy="92007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0800000">
            <a:off x="10779165" y="8793275"/>
            <a:ext cx="3593446" cy="1796723"/>
          </a:xfrm>
          <a:custGeom>
            <a:avLst/>
            <a:gdLst/>
            <a:ahLst/>
            <a:cxnLst/>
            <a:rect r="r" b="b" t="t" l="l"/>
            <a:pathLst>
              <a:path h="1796723" w="3593446">
                <a:moveTo>
                  <a:pt x="0" y="0"/>
                </a:moveTo>
                <a:lnTo>
                  <a:pt x="3593446" y="0"/>
                </a:lnTo>
                <a:lnTo>
                  <a:pt x="3593446" y="1796723"/>
                </a:lnTo>
                <a:lnTo>
                  <a:pt x="0" y="1796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1994053" y="7894913"/>
            <a:ext cx="1796723" cy="3593446"/>
          </a:xfrm>
          <a:custGeom>
            <a:avLst/>
            <a:gdLst/>
            <a:ahLst/>
            <a:cxnLst/>
            <a:rect r="r" b="b" t="t" l="l"/>
            <a:pathLst>
              <a:path h="3593446" w="1796723">
                <a:moveTo>
                  <a:pt x="0" y="0"/>
                </a:moveTo>
                <a:lnTo>
                  <a:pt x="1796723" y="0"/>
                </a:lnTo>
                <a:lnTo>
                  <a:pt x="1796723" y="3593447"/>
                </a:lnTo>
                <a:lnTo>
                  <a:pt x="0" y="359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-5400000">
            <a:off x="15347413" y="-2504047"/>
            <a:ext cx="3823773" cy="7647547"/>
          </a:xfrm>
          <a:custGeom>
            <a:avLst/>
            <a:gdLst/>
            <a:ahLst/>
            <a:cxnLst/>
            <a:rect r="r" b="b" t="t" l="l"/>
            <a:pathLst>
              <a:path h="7647547" w="3823773">
                <a:moveTo>
                  <a:pt x="3823774" y="7647547"/>
                </a:moveTo>
                <a:lnTo>
                  <a:pt x="0" y="7647547"/>
                </a:lnTo>
                <a:lnTo>
                  <a:pt x="0" y="0"/>
                </a:lnTo>
                <a:lnTo>
                  <a:pt x="3823774" y="0"/>
                </a:lnTo>
                <a:lnTo>
                  <a:pt x="3823774" y="76475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98337" y="2895322"/>
            <a:ext cx="9606000" cy="92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1"/>
              </a:lnSpc>
            </a:pPr>
            <a:r>
              <a:rPr lang="en-US" b="true" sz="5358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SAE 24 : Partie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7248" y="3808280"/>
            <a:ext cx="9606000" cy="322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71"/>
              </a:lnSpc>
            </a:pPr>
            <a:r>
              <a:rPr lang="en-US" b="true" sz="1883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ArtMath</a:t>
            </a:r>
          </a:p>
        </p:txBody>
      </p:sp>
      <p:sp>
        <p:nvSpPr>
          <p:cNvPr name="Freeform 22" id="22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98337" y="7399134"/>
            <a:ext cx="9219728" cy="124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7"/>
              </a:lnSpc>
            </a:pPr>
            <a:r>
              <a:rPr lang="en-US" sz="23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Modifications du site ArtMathématique avec Symfony et Python</a:t>
            </a:r>
          </a:p>
          <a:p>
            <a:pPr algn="l" marL="0" indent="0" lvl="0">
              <a:lnSpc>
                <a:spcPts val="3317"/>
              </a:lnSpc>
            </a:pPr>
            <a:r>
              <a:rPr lang="en-US" sz="236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Projet académique IUT Roanne BUT R&amp;T – Lubin VRAY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8337" y="2353337"/>
            <a:ext cx="1991585" cy="58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6"/>
              </a:lnSpc>
            </a:pPr>
            <a:r>
              <a:rPr lang="en-US" b="true" sz="344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2026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55510" y="543587"/>
            <a:ext cx="1038558" cy="796972"/>
          </a:xfrm>
          <a:custGeom>
            <a:avLst/>
            <a:gdLst/>
            <a:ahLst/>
            <a:cxnLst/>
            <a:rect r="r" b="b" t="t" l="l"/>
            <a:pathLst>
              <a:path h="796972" w="1038558">
                <a:moveTo>
                  <a:pt x="0" y="0"/>
                </a:moveTo>
                <a:lnTo>
                  <a:pt x="1038558" y="0"/>
                </a:lnTo>
                <a:lnTo>
                  <a:pt x="1038558" y="796972"/>
                </a:lnTo>
                <a:lnTo>
                  <a:pt x="0" y="796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945652" y="816660"/>
            <a:ext cx="2539503" cy="48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5"/>
              </a:lnSpc>
            </a:pPr>
            <a:r>
              <a:rPr lang="en-US" b="true" sz="288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IUT ROANNE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4698564"/>
            <a:ext cx="7085221" cy="3548896"/>
            <a:chOff x="0" y="0"/>
            <a:chExt cx="9446962" cy="4731861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0" t="6062" r="0" b="6062"/>
            <a:stretch>
              <a:fillRect/>
            </a:stretch>
          </p:blipFill>
          <p:spPr>
            <a:xfrm flipH="false" flipV="false">
              <a:off x="0" y="0"/>
              <a:ext cx="9446962" cy="4731861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1125212" y="1984179"/>
            <a:ext cx="8018788" cy="316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4"/>
              </a:lnSpc>
            </a:pPr>
            <a:r>
              <a:rPr lang="en-US" b="true" sz="7994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Context of the SAE 24 Project</a:t>
            </a:r>
          </a:p>
          <a:p>
            <a:pPr algn="l" marL="0" indent="0" lvl="0">
              <a:lnSpc>
                <a:spcPts val="823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6632495" y="3844260"/>
            <a:ext cx="626805" cy="6268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7087793" y="-1655018"/>
            <a:ext cx="2052257" cy="4114800"/>
          </a:xfrm>
          <a:custGeom>
            <a:avLst/>
            <a:gdLst/>
            <a:ahLst/>
            <a:cxnLst/>
            <a:rect r="r" b="b" t="t" l="l"/>
            <a:pathLst>
              <a:path h="4114800" w="2052257">
                <a:moveTo>
                  <a:pt x="0" y="0"/>
                </a:moveTo>
                <a:lnTo>
                  <a:pt x="2052257" y="0"/>
                </a:lnTo>
                <a:lnTo>
                  <a:pt x="20522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16496634" y="388494"/>
            <a:ext cx="1525333" cy="1525333"/>
          </a:xfrm>
          <a:custGeom>
            <a:avLst/>
            <a:gdLst/>
            <a:ahLst/>
            <a:cxnLst/>
            <a:rect r="r" b="b" t="t" l="l"/>
            <a:pathLst>
              <a:path h="1525333" w="1525333">
                <a:moveTo>
                  <a:pt x="1525332" y="1525332"/>
                </a:moveTo>
                <a:lnTo>
                  <a:pt x="0" y="1525332"/>
                </a:lnTo>
                <a:lnTo>
                  <a:pt x="0" y="0"/>
                </a:lnTo>
                <a:lnTo>
                  <a:pt x="1525332" y="0"/>
                </a:lnTo>
                <a:lnTo>
                  <a:pt x="1525332" y="152533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57261" y="1390410"/>
            <a:ext cx="5389797" cy="104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7"/>
              </a:lnSpc>
            </a:pPr>
            <a:r>
              <a:rPr lang="en-US" sz="3197">
                <a:solidFill>
                  <a:srgbClr val="C20909"/>
                </a:solidFill>
                <a:latin typeface="Open Sauce"/>
                <a:ea typeface="Open Sauce"/>
                <a:cs typeface="Open Sauce"/>
                <a:sym typeface="Open Sauce"/>
              </a:rPr>
              <a:t>Presentation of SAE 24</a:t>
            </a:r>
          </a:p>
          <a:p>
            <a:pPr algn="l" marL="0" indent="0" lvl="0">
              <a:lnSpc>
                <a:spcPts val="415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557261" y="4138613"/>
            <a:ext cx="6201802" cy="104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7"/>
              </a:lnSpc>
            </a:pPr>
            <a:r>
              <a:rPr lang="en-US" sz="3197">
                <a:solidFill>
                  <a:srgbClr val="C20909"/>
                </a:solidFill>
                <a:latin typeface="Open Sauce"/>
                <a:ea typeface="Open Sauce"/>
                <a:cs typeface="Open Sauce"/>
                <a:sym typeface="Open Sauce"/>
              </a:rPr>
              <a:t>Overall objective of the project</a:t>
            </a:r>
          </a:p>
          <a:p>
            <a:pPr algn="l" marL="0" indent="0" lvl="0">
              <a:lnSpc>
                <a:spcPts val="415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557261" y="6871080"/>
            <a:ext cx="6367704" cy="1045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57"/>
              </a:lnSpc>
            </a:pPr>
            <a:r>
              <a:rPr lang="en-US" sz="3197">
                <a:solidFill>
                  <a:srgbClr val="C20909"/>
                </a:solidFill>
                <a:latin typeface="Open Sauce"/>
                <a:ea typeface="Open Sauce"/>
                <a:cs typeface="Open Sauce"/>
                <a:sym typeface="Open Sauce"/>
              </a:rPr>
              <a:t>Focus on Part 1</a:t>
            </a:r>
          </a:p>
          <a:p>
            <a:pPr algn="l" marL="0" indent="0" lvl="0">
              <a:lnSpc>
                <a:spcPts val="415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557261" y="7421019"/>
            <a:ext cx="7388636" cy="245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 1 consists of deploying a Debian 11 Linux server on the IUT virtualization bay, installing Symfony/Apache on it, then adapting the ArtMathématique site to generate a figure different from the basic one.</a:t>
            </a:r>
          </a:p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557261" y="4802851"/>
            <a:ext cx="7388636" cy="245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Each</a:t>
            </a: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part covers a different technical area (web development, programming, docker server, telephony), thus simulating a real professional project where several areas of expertise are combined.</a:t>
            </a:r>
          </a:p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557261" y="2367161"/>
            <a:ext cx="7388636" cy="204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SAE 24 is an integrative SAE of the BUT N&amp;T at the IUT of Roanne, which brings together many first-year subjects within a single project structured in 4 distinct parts.</a:t>
            </a:r>
          </a:p>
          <a:p>
            <a:pPr algn="l" marL="0" indent="0" lvl="0">
              <a:lnSpc>
                <a:spcPts val="3247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8113921" y="8838009"/>
            <a:ext cx="1009535" cy="100953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945652" y="807135"/>
            <a:ext cx="3870627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32495" y="3844260"/>
            <a:ext cx="626805" cy="6268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7087793" y="-1655018"/>
            <a:ext cx="2052257" cy="4114800"/>
          </a:xfrm>
          <a:custGeom>
            <a:avLst/>
            <a:gdLst/>
            <a:ahLst/>
            <a:cxnLst/>
            <a:rect r="r" b="b" t="t" l="l"/>
            <a:pathLst>
              <a:path h="4114800" w="2052257">
                <a:moveTo>
                  <a:pt x="0" y="0"/>
                </a:moveTo>
                <a:lnTo>
                  <a:pt x="2052257" y="0"/>
                </a:lnTo>
                <a:lnTo>
                  <a:pt x="20522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6496634" y="388494"/>
            <a:ext cx="1525333" cy="1525333"/>
          </a:xfrm>
          <a:custGeom>
            <a:avLst/>
            <a:gdLst/>
            <a:ahLst/>
            <a:cxnLst/>
            <a:rect r="r" b="b" t="t" l="l"/>
            <a:pathLst>
              <a:path h="1525333" w="1525333">
                <a:moveTo>
                  <a:pt x="1525332" y="1525332"/>
                </a:moveTo>
                <a:lnTo>
                  <a:pt x="0" y="1525332"/>
                </a:lnTo>
                <a:lnTo>
                  <a:pt x="0" y="0"/>
                </a:lnTo>
                <a:lnTo>
                  <a:pt x="1525332" y="0"/>
                </a:lnTo>
                <a:lnTo>
                  <a:pt x="1525332" y="1525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113921" y="8838009"/>
            <a:ext cx="1009535" cy="10095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98013" y="5595123"/>
            <a:ext cx="8625443" cy="3489264"/>
          </a:xfrm>
          <a:custGeom>
            <a:avLst/>
            <a:gdLst/>
            <a:ahLst/>
            <a:cxnLst/>
            <a:rect r="r" b="b" t="t" l="l"/>
            <a:pathLst>
              <a:path h="3489264" w="8625443">
                <a:moveTo>
                  <a:pt x="0" y="0"/>
                </a:moveTo>
                <a:lnTo>
                  <a:pt x="8625443" y="0"/>
                </a:lnTo>
                <a:lnTo>
                  <a:pt x="8625443" y="3489264"/>
                </a:lnTo>
                <a:lnTo>
                  <a:pt x="0" y="3489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102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25212" y="1984179"/>
            <a:ext cx="8018788" cy="212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4"/>
              </a:lnSpc>
            </a:pPr>
            <a:r>
              <a:rPr lang="en-US" b="true" sz="7994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Adaptation vers nees_carre.py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7261" y="1418985"/>
            <a:ext cx="538979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Passage de Koch à nees_carre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45652" y="807135"/>
            <a:ext cx="3870627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57261" y="2110147"/>
            <a:ext cx="620180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Modification du formulaire Twig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57261" y="2771166"/>
            <a:ext cx="5389797" cy="72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Récupération des données du formulaire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7261" y="3640179"/>
            <a:ext cx="620180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Appel au script Python nees_carre.py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309125" y="6388396"/>
            <a:ext cx="8712841" cy="2820468"/>
          </a:xfrm>
          <a:custGeom>
            <a:avLst/>
            <a:gdLst/>
            <a:ahLst/>
            <a:cxnLst/>
            <a:rect r="r" b="b" t="t" l="l"/>
            <a:pathLst>
              <a:path h="2820468" w="8712841">
                <a:moveTo>
                  <a:pt x="0" y="0"/>
                </a:moveTo>
                <a:lnTo>
                  <a:pt x="8712841" y="0"/>
                </a:lnTo>
                <a:lnTo>
                  <a:pt x="8712841" y="2820468"/>
                </a:lnTo>
                <a:lnTo>
                  <a:pt x="0" y="28204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557261" y="4296769"/>
            <a:ext cx="6201802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Passage des arguments au script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7261" y="4871858"/>
            <a:ext cx="6367704" cy="723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9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Récupération des résultats (images, données)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32495" y="3844260"/>
            <a:ext cx="626805" cy="62680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7087793" y="-1655018"/>
            <a:ext cx="2052257" cy="4114800"/>
          </a:xfrm>
          <a:custGeom>
            <a:avLst/>
            <a:gdLst/>
            <a:ahLst/>
            <a:cxnLst/>
            <a:rect r="r" b="b" t="t" l="l"/>
            <a:pathLst>
              <a:path h="4114800" w="2052257">
                <a:moveTo>
                  <a:pt x="0" y="0"/>
                </a:moveTo>
                <a:lnTo>
                  <a:pt x="2052257" y="0"/>
                </a:lnTo>
                <a:lnTo>
                  <a:pt x="20522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16496634" y="388494"/>
            <a:ext cx="1525333" cy="1525333"/>
          </a:xfrm>
          <a:custGeom>
            <a:avLst/>
            <a:gdLst/>
            <a:ahLst/>
            <a:cxnLst/>
            <a:rect r="r" b="b" t="t" l="l"/>
            <a:pathLst>
              <a:path h="1525333" w="1525333">
                <a:moveTo>
                  <a:pt x="1525332" y="1525332"/>
                </a:moveTo>
                <a:lnTo>
                  <a:pt x="0" y="1525332"/>
                </a:lnTo>
                <a:lnTo>
                  <a:pt x="0" y="0"/>
                </a:lnTo>
                <a:lnTo>
                  <a:pt x="1525332" y="0"/>
                </a:lnTo>
                <a:lnTo>
                  <a:pt x="1525332" y="1525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113921" y="8838009"/>
            <a:ext cx="1009535" cy="100953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77350" y="300119"/>
            <a:ext cx="8627258" cy="7618569"/>
          </a:xfrm>
          <a:custGeom>
            <a:avLst/>
            <a:gdLst/>
            <a:ahLst/>
            <a:cxnLst/>
            <a:rect r="r" b="b" t="t" l="l"/>
            <a:pathLst>
              <a:path h="7618569" w="8627258">
                <a:moveTo>
                  <a:pt x="0" y="0"/>
                </a:moveTo>
                <a:lnTo>
                  <a:pt x="8627258" y="0"/>
                </a:lnTo>
                <a:lnTo>
                  <a:pt x="8627258" y="7618569"/>
                </a:lnTo>
                <a:lnTo>
                  <a:pt x="0" y="7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77350" y="7966596"/>
            <a:ext cx="8744616" cy="2027161"/>
          </a:xfrm>
          <a:custGeom>
            <a:avLst/>
            <a:gdLst/>
            <a:ahLst/>
            <a:cxnLst/>
            <a:rect r="r" b="b" t="t" l="l"/>
            <a:pathLst>
              <a:path h="2027161" w="8744616">
                <a:moveTo>
                  <a:pt x="0" y="0"/>
                </a:moveTo>
                <a:lnTo>
                  <a:pt x="8744616" y="0"/>
                </a:lnTo>
                <a:lnTo>
                  <a:pt x="8744616" y="2027161"/>
                </a:lnTo>
                <a:lnTo>
                  <a:pt x="0" y="20271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5650" y="4826062"/>
            <a:ext cx="8957806" cy="4011947"/>
          </a:xfrm>
          <a:custGeom>
            <a:avLst/>
            <a:gdLst/>
            <a:ahLst/>
            <a:cxnLst/>
            <a:rect r="r" b="b" t="t" l="l"/>
            <a:pathLst>
              <a:path h="4011947" w="8957806">
                <a:moveTo>
                  <a:pt x="0" y="0"/>
                </a:moveTo>
                <a:lnTo>
                  <a:pt x="8957806" y="0"/>
                </a:lnTo>
                <a:lnTo>
                  <a:pt x="8957806" y="4011947"/>
                </a:lnTo>
                <a:lnTo>
                  <a:pt x="0" y="4011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2616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25212" y="1984179"/>
            <a:ext cx="8018788" cy="2125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4"/>
              </a:lnSpc>
            </a:pPr>
            <a:r>
              <a:rPr lang="en-US" b="true" sz="7994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Adaptation vers oeuvre.py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5652" y="807135"/>
            <a:ext cx="3870627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0301691" y="6861380"/>
            <a:ext cx="2772159" cy="5544319"/>
          </a:xfrm>
          <a:custGeom>
            <a:avLst/>
            <a:gdLst/>
            <a:ahLst/>
            <a:cxnLst/>
            <a:rect r="r" b="b" t="t" l="l"/>
            <a:pathLst>
              <a:path h="5544319" w="2772159">
                <a:moveTo>
                  <a:pt x="0" y="0"/>
                </a:moveTo>
                <a:lnTo>
                  <a:pt x="2772160" y="0"/>
                </a:lnTo>
                <a:lnTo>
                  <a:pt x="2772160" y="5544319"/>
                </a:lnTo>
                <a:lnTo>
                  <a:pt x="0" y="554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37703" y="7267582"/>
            <a:ext cx="1840150" cy="184015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66479" y="1731263"/>
            <a:ext cx="1253611" cy="125361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65080" y="9208864"/>
            <a:ext cx="920075" cy="92007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69267" y="2961319"/>
            <a:ext cx="9138562" cy="469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Navbar Bootstrap</a:t>
            </a:r>
          </a:p>
          <a:p>
            <a:pPr algn="l">
              <a:lnSpc>
                <a:spcPts val="3162"/>
              </a:lnSpc>
            </a:pPr>
          </a:p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Affichage des Curseurs en JavaScript ==&gt; oninput </a:t>
            </a:r>
          </a:p>
          <a:p>
            <a:pPr algn="l">
              <a:lnSpc>
                <a:spcPts val="3162"/>
              </a:lnSpc>
            </a:pPr>
          </a:p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Compteur d'Images générées</a:t>
            </a:r>
          </a:p>
          <a:p>
            <a:pPr algn="l">
              <a:lnSpc>
                <a:spcPts val="3162"/>
              </a:lnSpc>
            </a:pPr>
          </a:p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Téléchargement de l’image généré =&gt; $this-&gt;file()</a:t>
            </a:r>
          </a:p>
          <a:p>
            <a:pPr algn="l">
              <a:lnSpc>
                <a:spcPts val="3162"/>
              </a:lnSpc>
            </a:pPr>
          </a:p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Choix des Formes pour nees_caree</a:t>
            </a:r>
          </a:p>
          <a:p>
            <a:pPr algn="l">
              <a:lnSpc>
                <a:spcPts val="3162"/>
              </a:lnSpc>
            </a:pPr>
          </a:p>
          <a:p>
            <a:pPr algn="l" marL="525145" indent="-262573" lvl="1">
              <a:lnSpc>
                <a:spcPts val="3162"/>
              </a:lnSpc>
              <a:buFont typeface="Arial"/>
              <a:buChar char="•"/>
            </a:pPr>
            <a:r>
              <a:rPr lang="en-US" sz="243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Création de la page compte Rendu</a:t>
            </a:r>
          </a:p>
          <a:p>
            <a:pPr algn="l">
              <a:lnSpc>
                <a:spcPts val="3162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68265" y="6111594"/>
            <a:ext cx="8191035" cy="5194550"/>
          </a:xfrm>
          <a:custGeom>
            <a:avLst/>
            <a:gdLst/>
            <a:ahLst/>
            <a:cxnLst/>
            <a:rect r="r" b="b" t="t" l="l"/>
            <a:pathLst>
              <a:path h="5194550" w="8191035">
                <a:moveTo>
                  <a:pt x="0" y="0"/>
                </a:moveTo>
                <a:lnTo>
                  <a:pt x="8191035" y="0"/>
                </a:lnTo>
                <a:lnTo>
                  <a:pt x="8191035" y="5194550"/>
                </a:lnTo>
                <a:lnTo>
                  <a:pt x="0" y="51945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446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07829" y="0"/>
            <a:ext cx="7308334" cy="6111594"/>
          </a:xfrm>
          <a:custGeom>
            <a:avLst/>
            <a:gdLst/>
            <a:ahLst/>
            <a:cxnLst/>
            <a:rect r="r" b="b" t="t" l="l"/>
            <a:pathLst>
              <a:path h="6111594" w="7308334">
                <a:moveTo>
                  <a:pt x="0" y="0"/>
                </a:moveTo>
                <a:lnTo>
                  <a:pt x="7308334" y="0"/>
                </a:lnTo>
                <a:lnTo>
                  <a:pt x="7308334" y="6111594"/>
                </a:lnTo>
                <a:lnTo>
                  <a:pt x="0" y="61115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25212" y="1936554"/>
            <a:ext cx="6608029" cy="74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3"/>
              </a:lnSpc>
            </a:pPr>
            <a:r>
              <a:rPr lang="en-US" b="true" sz="5440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Améliorations 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45652" y="807135"/>
            <a:ext cx="3870627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5184" y="-2498173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448903" y="6419745"/>
            <a:ext cx="3066582" cy="6133165"/>
          </a:xfrm>
          <a:custGeom>
            <a:avLst/>
            <a:gdLst/>
            <a:ahLst/>
            <a:cxnLst/>
            <a:rect r="r" b="b" t="t" l="l"/>
            <a:pathLst>
              <a:path h="6133165" w="3066582">
                <a:moveTo>
                  <a:pt x="0" y="0"/>
                </a:moveTo>
                <a:lnTo>
                  <a:pt x="3066582" y="0"/>
                </a:lnTo>
                <a:lnTo>
                  <a:pt x="3066582" y="6133165"/>
                </a:lnTo>
                <a:lnTo>
                  <a:pt x="0" y="6133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37703" y="7267582"/>
            <a:ext cx="1840150" cy="184015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66479" y="1731263"/>
            <a:ext cx="1253611" cy="125361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65080" y="9208864"/>
            <a:ext cx="920075" cy="92007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653589" y="450815"/>
            <a:ext cx="6182758" cy="5889339"/>
          </a:xfrm>
          <a:custGeom>
            <a:avLst/>
            <a:gdLst/>
            <a:ahLst/>
            <a:cxnLst/>
            <a:rect r="r" b="b" t="t" l="l"/>
            <a:pathLst>
              <a:path h="5889339" w="6182758">
                <a:moveTo>
                  <a:pt x="0" y="0"/>
                </a:moveTo>
                <a:lnTo>
                  <a:pt x="6182758" y="0"/>
                </a:lnTo>
                <a:lnTo>
                  <a:pt x="6182758" y="5889339"/>
                </a:lnTo>
                <a:lnTo>
                  <a:pt x="0" y="5889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842267" y="6630957"/>
            <a:ext cx="7994081" cy="2096131"/>
          </a:xfrm>
          <a:custGeom>
            <a:avLst/>
            <a:gdLst/>
            <a:ahLst/>
            <a:cxnLst/>
            <a:rect r="r" b="b" t="t" l="l"/>
            <a:pathLst>
              <a:path h="2096131" w="7994081">
                <a:moveTo>
                  <a:pt x="0" y="0"/>
                </a:moveTo>
                <a:lnTo>
                  <a:pt x="7994080" y="0"/>
                </a:lnTo>
                <a:lnTo>
                  <a:pt x="7994080" y="2096131"/>
                </a:lnTo>
                <a:lnTo>
                  <a:pt x="0" y="20961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63" t="-37082" r="0" b="-5220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1653" y="7267582"/>
            <a:ext cx="8692347" cy="1106576"/>
          </a:xfrm>
          <a:custGeom>
            <a:avLst/>
            <a:gdLst/>
            <a:ahLst/>
            <a:cxnLst/>
            <a:rect r="r" b="b" t="t" l="l"/>
            <a:pathLst>
              <a:path h="1106576" w="8692347">
                <a:moveTo>
                  <a:pt x="0" y="0"/>
                </a:moveTo>
                <a:lnTo>
                  <a:pt x="8692347" y="0"/>
                </a:lnTo>
                <a:lnTo>
                  <a:pt x="8692347" y="1106576"/>
                </a:lnTo>
                <a:lnTo>
                  <a:pt x="0" y="11065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692" t="-75944" r="0" b="-81066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25212" y="1955604"/>
            <a:ext cx="6608029" cy="151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62"/>
              </a:lnSpc>
            </a:pPr>
            <a:r>
              <a:rPr lang="en-US" b="true" sz="5691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Sécurisation du site avec htaccess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5212" y="3899031"/>
            <a:ext cx="9412490" cy="234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3"/>
              </a:lnSpc>
              <a:spcBef>
                <a:spcPct val="0"/>
              </a:spcBef>
            </a:pPr>
            <a:r>
              <a:rPr lang="en-US" sz="23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Auth</a:t>
            </a:r>
            <a:r>
              <a:rPr lang="en-US" sz="23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entification HTTP Basic configurée via Apache:</a:t>
            </a:r>
          </a:p>
          <a:p>
            <a:pPr algn="l" marL="0" indent="0" lvl="0">
              <a:lnSpc>
                <a:spcPts val="3103"/>
              </a:lnSpc>
              <a:spcBef>
                <a:spcPct val="0"/>
              </a:spcBef>
            </a:pPr>
          </a:p>
          <a:p>
            <a:pPr algn="l" marL="515496" indent="-257748" lvl="1">
              <a:lnSpc>
                <a:spcPts val="3103"/>
              </a:lnSpc>
              <a:buFont typeface="Arial"/>
              <a:buChar char="•"/>
            </a:pPr>
            <a:r>
              <a:rPr lang="en-US" sz="23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Le fichier amath.conf est modifié =&gt; AllowOverride All</a:t>
            </a:r>
          </a:p>
          <a:p>
            <a:pPr algn="l">
              <a:lnSpc>
                <a:spcPts val="3103"/>
              </a:lnSpc>
            </a:pPr>
          </a:p>
          <a:p>
            <a:pPr algn="l" marL="515496" indent="-257748" lvl="1">
              <a:lnSpc>
                <a:spcPts val="3103"/>
              </a:lnSpc>
              <a:buFont typeface="Arial"/>
              <a:buChar char="•"/>
            </a:pPr>
            <a:r>
              <a:rPr lang="en-US" sz="238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.htaccess définit l'authentification pointant vers un .htpasswd créé avec htpasswd -c “C:/.../.htpasswd” lubin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45652" y="807135"/>
            <a:ext cx="3870627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39568" y="-3820836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3807" y="8247459"/>
            <a:ext cx="1922810" cy="1922810"/>
          </a:xfrm>
          <a:custGeom>
            <a:avLst/>
            <a:gdLst/>
            <a:ahLst/>
            <a:cxnLst/>
            <a:rect r="r" b="b" t="t" l="l"/>
            <a:pathLst>
              <a:path h="1922810" w="1922810">
                <a:moveTo>
                  <a:pt x="1922810" y="0"/>
                </a:moveTo>
                <a:lnTo>
                  <a:pt x="0" y="0"/>
                </a:lnTo>
                <a:lnTo>
                  <a:pt x="0" y="1922811"/>
                </a:lnTo>
                <a:lnTo>
                  <a:pt x="1922810" y="1922811"/>
                </a:lnTo>
                <a:lnTo>
                  <a:pt x="19228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77665" y="8338225"/>
            <a:ext cx="1840150" cy="18401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4698564"/>
            <a:ext cx="7085221" cy="3548896"/>
            <a:chOff x="0" y="0"/>
            <a:chExt cx="9446962" cy="4731861"/>
          </a:xfrm>
        </p:grpSpPr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6"/>
            <a:srcRect l="0" t="6062" r="0" b="6062"/>
            <a:stretch>
              <a:fillRect/>
            </a:stretch>
          </p:blipFill>
          <p:spPr>
            <a:xfrm flipH="false" flipV="false">
              <a:off x="0" y="0"/>
              <a:ext cx="9446962" cy="4731861"/>
            </a:xfrm>
            <a:prstGeom prst="rect">
              <a:avLst/>
            </a:prstGeom>
          </p:spPr>
        </p:pic>
      </p:grpSp>
      <p:sp>
        <p:nvSpPr>
          <p:cNvPr name="TextBox 12" id="12"/>
          <p:cNvSpPr txBox="true"/>
          <p:nvPr/>
        </p:nvSpPr>
        <p:spPr>
          <a:xfrm rot="0">
            <a:off x="1125212" y="1984179"/>
            <a:ext cx="8018788" cy="108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34"/>
              </a:lnSpc>
            </a:pPr>
            <a:r>
              <a:rPr lang="en-US" b="true" sz="7994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632495" y="3844260"/>
            <a:ext cx="626805" cy="62680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7087793" y="-1655018"/>
            <a:ext cx="2052257" cy="4114800"/>
          </a:xfrm>
          <a:custGeom>
            <a:avLst/>
            <a:gdLst/>
            <a:ahLst/>
            <a:cxnLst/>
            <a:rect r="r" b="b" t="t" l="l"/>
            <a:pathLst>
              <a:path h="4114800" w="2052257">
                <a:moveTo>
                  <a:pt x="0" y="0"/>
                </a:moveTo>
                <a:lnTo>
                  <a:pt x="2052257" y="0"/>
                </a:lnTo>
                <a:lnTo>
                  <a:pt x="20522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0">
            <a:off x="16496634" y="388494"/>
            <a:ext cx="1525333" cy="1525333"/>
          </a:xfrm>
          <a:custGeom>
            <a:avLst/>
            <a:gdLst/>
            <a:ahLst/>
            <a:cxnLst/>
            <a:rect r="r" b="b" t="t" l="l"/>
            <a:pathLst>
              <a:path h="1525333" w="1525333">
                <a:moveTo>
                  <a:pt x="1525332" y="1525332"/>
                </a:moveTo>
                <a:lnTo>
                  <a:pt x="0" y="1525332"/>
                </a:lnTo>
                <a:lnTo>
                  <a:pt x="0" y="0"/>
                </a:lnTo>
                <a:lnTo>
                  <a:pt x="1525332" y="0"/>
                </a:lnTo>
                <a:lnTo>
                  <a:pt x="1525332" y="1525332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45652" y="807135"/>
            <a:ext cx="5048994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84983" y="2462006"/>
            <a:ext cx="8111651" cy="5334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7"/>
              </a:lnSpc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Serveur web ==&gt; complète, interactife et sécurisé.</a:t>
            </a:r>
          </a:p>
          <a:p>
            <a:pPr algn="l">
              <a:lnSpc>
                <a:spcPts val="3857"/>
              </a:lnSpc>
            </a:pPr>
          </a:p>
          <a:p>
            <a:pPr algn="l">
              <a:lnSpc>
                <a:spcPts val="3857"/>
              </a:lnSpc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Meilleure expérience utilisateur:</a:t>
            </a:r>
          </a:p>
          <a:p>
            <a:pPr algn="l" marL="640674" indent="-320337" lvl="1">
              <a:lnSpc>
                <a:spcPts val="3857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curseurs dynamiques JS</a:t>
            </a:r>
          </a:p>
          <a:p>
            <a:pPr algn="l" marL="640674" indent="-320337" lvl="1">
              <a:lnSpc>
                <a:spcPts val="3857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compteur d'images</a:t>
            </a:r>
          </a:p>
          <a:p>
            <a:pPr algn="l" marL="640674" indent="-320337" lvl="1">
              <a:lnSpc>
                <a:spcPts val="3857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bouton de téléchargement</a:t>
            </a:r>
          </a:p>
          <a:p>
            <a:pPr algn="l" marL="640674" indent="-320337" lvl="1">
              <a:lnSpc>
                <a:spcPts val="3857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choix de formes variées </a:t>
            </a:r>
          </a:p>
          <a:p>
            <a:pPr algn="l" marL="0" indent="0" lvl="0">
              <a:lnSpc>
                <a:spcPts val="385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57"/>
              </a:lnSpc>
              <a:spcBef>
                <a:spcPct val="0"/>
              </a:spcBef>
            </a:pPr>
            <a:r>
              <a:rPr lang="en-US" sz="296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Sécurisation via .htaccess ==&gt; protège l'ensemble du système.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13921" y="8838009"/>
            <a:ext cx="1009535" cy="100953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75184" y="-2498173"/>
            <a:ext cx="7641673" cy="76416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48740" y="5546659"/>
            <a:ext cx="7641673" cy="76416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E4E4">
                <a:alpha val="3568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825930" y="628890"/>
            <a:ext cx="982636" cy="799620"/>
          </a:xfrm>
          <a:custGeom>
            <a:avLst/>
            <a:gdLst/>
            <a:ahLst/>
            <a:cxnLst/>
            <a:rect r="r" b="b" t="t" l="l"/>
            <a:pathLst>
              <a:path h="799620" w="982636">
                <a:moveTo>
                  <a:pt x="982636" y="0"/>
                </a:moveTo>
                <a:lnTo>
                  <a:pt x="0" y="0"/>
                </a:lnTo>
                <a:lnTo>
                  <a:pt x="0" y="799620"/>
                </a:lnTo>
                <a:lnTo>
                  <a:pt x="982636" y="799620"/>
                </a:lnTo>
                <a:lnTo>
                  <a:pt x="9826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61121" y="1860354"/>
            <a:ext cx="920075" cy="9200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67702" y="9082045"/>
            <a:ext cx="634319" cy="63431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2090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623999" y="0"/>
            <a:ext cx="2091154" cy="3973690"/>
          </a:xfrm>
          <a:custGeom>
            <a:avLst/>
            <a:gdLst/>
            <a:ahLst/>
            <a:cxnLst/>
            <a:rect r="r" b="b" t="t" l="l"/>
            <a:pathLst>
              <a:path h="3973690" w="2091154">
                <a:moveTo>
                  <a:pt x="0" y="0"/>
                </a:moveTo>
                <a:lnTo>
                  <a:pt x="2091154" y="0"/>
                </a:lnTo>
                <a:lnTo>
                  <a:pt x="2091154" y="3973690"/>
                </a:lnTo>
                <a:lnTo>
                  <a:pt x="0" y="397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695978" y="4450079"/>
            <a:ext cx="10896044" cy="89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97"/>
              </a:lnSpc>
            </a:pPr>
            <a:r>
              <a:rPr lang="en-US" b="true" sz="6696">
                <a:solidFill>
                  <a:srgbClr val="C20909"/>
                </a:solidFill>
                <a:latin typeface="DM Sans Bold"/>
                <a:ea typeface="DM Sans Bold"/>
                <a:cs typeface="DM Sans Bold"/>
                <a:sym typeface="DM Sans Bold"/>
              </a:rPr>
              <a:t>Merci pour votre attention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45652" y="807135"/>
            <a:ext cx="3820836" cy="62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17"/>
              </a:lnSpc>
            </a:pP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</a:t>
            </a:r>
            <a:r>
              <a:rPr lang="en-US" b="true" sz="3655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24 : PARTIE 1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5400000">
            <a:off x="826062" y="8541433"/>
            <a:ext cx="1652124" cy="3304247"/>
          </a:xfrm>
          <a:custGeom>
            <a:avLst/>
            <a:gdLst/>
            <a:ahLst/>
            <a:cxnLst/>
            <a:rect r="r" b="b" t="t" l="l"/>
            <a:pathLst>
              <a:path h="3304247" w="1652124">
                <a:moveTo>
                  <a:pt x="0" y="0"/>
                </a:moveTo>
                <a:lnTo>
                  <a:pt x="1652123" y="0"/>
                </a:lnTo>
                <a:lnTo>
                  <a:pt x="1652123" y="3304248"/>
                </a:lnTo>
                <a:lnTo>
                  <a:pt x="0" y="3304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03818" y="5633190"/>
            <a:ext cx="6880363" cy="227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46"/>
              </a:lnSpc>
            </a:pPr>
            <a:r>
              <a:rPr lang="en-US" sz="34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N'hésitez pas à poser vos questions.</a:t>
            </a:r>
          </a:p>
          <a:p>
            <a:pPr algn="ctr" marL="0" indent="0" lvl="0">
              <a:lnSpc>
                <a:spcPts val="4546"/>
              </a:lnSpc>
            </a:pPr>
            <a:r>
              <a:rPr lang="en-US" sz="349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Contact : Lubin VRAY – IUT Roanne BUT R&amp;T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DAHMP4zUTrM</dc:identifier>
  <dcterms:modified xsi:type="dcterms:W3CDTF">2011-08-01T06:04:30Z</dcterms:modified>
  <cp:revision>1</cp:revision>
  <dc:title>SAE 24 Part 7: ArtMathématique Modernisations Symfony-Python</dc:title>
</cp:coreProperties>
</file>